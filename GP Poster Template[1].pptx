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Lst>
  <p:sldSz cx="32399288" cy="50399950"/>
  <p:notesSz cx="6858000" cy="9144000"/>
  <p:defaultTextStyle>
    <a:defPPr>
      <a:defRPr lang="en-US"/>
    </a:defPPr>
    <a:lvl1pPr marL="0" algn="l" defTabSz="3974348" rtl="0" eaLnBrk="1" latinLnBrk="0" hangingPunct="1">
      <a:defRPr sz="7824" kern="1200">
        <a:solidFill>
          <a:schemeClr val="tx1"/>
        </a:solidFill>
        <a:latin typeface="+mn-lt"/>
        <a:ea typeface="+mn-ea"/>
        <a:cs typeface="+mn-cs"/>
      </a:defRPr>
    </a:lvl1pPr>
    <a:lvl2pPr marL="1987174" algn="l" defTabSz="3974348" rtl="0" eaLnBrk="1" latinLnBrk="0" hangingPunct="1">
      <a:defRPr sz="7824" kern="1200">
        <a:solidFill>
          <a:schemeClr val="tx1"/>
        </a:solidFill>
        <a:latin typeface="+mn-lt"/>
        <a:ea typeface="+mn-ea"/>
        <a:cs typeface="+mn-cs"/>
      </a:defRPr>
    </a:lvl2pPr>
    <a:lvl3pPr marL="3974348" algn="l" defTabSz="3974348" rtl="0" eaLnBrk="1" latinLnBrk="0" hangingPunct="1">
      <a:defRPr sz="7824" kern="1200">
        <a:solidFill>
          <a:schemeClr val="tx1"/>
        </a:solidFill>
        <a:latin typeface="+mn-lt"/>
        <a:ea typeface="+mn-ea"/>
        <a:cs typeface="+mn-cs"/>
      </a:defRPr>
    </a:lvl3pPr>
    <a:lvl4pPr marL="5961522" algn="l" defTabSz="3974348" rtl="0" eaLnBrk="1" latinLnBrk="0" hangingPunct="1">
      <a:defRPr sz="7824" kern="1200">
        <a:solidFill>
          <a:schemeClr val="tx1"/>
        </a:solidFill>
        <a:latin typeface="+mn-lt"/>
        <a:ea typeface="+mn-ea"/>
        <a:cs typeface="+mn-cs"/>
      </a:defRPr>
    </a:lvl4pPr>
    <a:lvl5pPr marL="7948696" algn="l" defTabSz="3974348" rtl="0" eaLnBrk="1" latinLnBrk="0" hangingPunct="1">
      <a:defRPr sz="7824" kern="1200">
        <a:solidFill>
          <a:schemeClr val="tx1"/>
        </a:solidFill>
        <a:latin typeface="+mn-lt"/>
        <a:ea typeface="+mn-ea"/>
        <a:cs typeface="+mn-cs"/>
      </a:defRPr>
    </a:lvl5pPr>
    <a:lvl6pPr marL="9935870" algn="l" defTabSz="3974348" rtl="0" eaLnBrk="1" latinLnBrk="0" hangingPunct="1">
      <a:defRPr sz="7824" kern="1200">
        <a:solidFill>
          <a:schemeClr val="tx1"/>
        </a:solidFill>
        <a:latin typeface="+mn-lt"/>
        <a:ea typeface="+mn-ea"/>
        <a:cs typeface="+mn-cs"/>
      </a:defRPr>
    </a:lvl6pPr>
    <a:lvl7pPr marL="11923044" algn="l" defTabSz="3974348" rtl="0" eaLnBrk="1" latinLnBrk="0" hangingPunct="1">
      <a:defRPr sz="7824" kern="1200">
        <a:solidFill>
          <a:schemeClr val="tx1"/>
        </a:solidFill>
        <a:latin typeface="+mn-lt"/>
        <a:ea typeface="+mn-ea"/>
        <a:cs typeface="+mn-cs"/>
      </a:defRPr>
    </a:lvl7pPr>
    <a:lvl8pPr marL="13910219" algn="l" defTabSz="3974348" rtl="0" eaLnBrk="1" latinLnBrk="0" hangingPunct="1">
      <a:defRPr sz="7824" kern="1200">
        <a:solidFill>
          <a:schemeClr val="tx1"/>
        </a:solidFill>
        <a:latin typeface="+mn-lt"/>
        <a:ea typeface="+mn-ea"/>
        <a:cs typeface="+mn-cs"/>
      </a:defRPr>
    </a:lvl8pPr>
    <a:lvl9pPr marL="15897393" algn="l" defTabSz="3974348" rtl="0" eaLnBrk="1" latinLnBrk="0" hangingPunct="1">
      <a:defRPr sz="7824"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851" userDrawn="1">
          <p15:clr>
            <a:srgbClr val="A4A3A4"/>
          </p15:clr>
        </p15:guide>
        <p15:guide id="2" pos="102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275"/>
    <a:srgbClr val="002060"/>
    <a:srgbClr val="10005E"/>
    <a:srgbClr val="110052"/>
    <a:srgbClr val="FDF0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94" autoAdjust="0"/>
  </p:normalViewPr>
  <p:slideViewPr>
    <p:cSldViewPr snapToGrid="0" showGuides="1">
      <p:cViewPr>
        <p:scale>
          <a:sx n="30" d="100"/>
          <a:sy n="30" d="100"/>
        </p:scale>
        <p:origin x="1854" y="-1908"/>
      </p:cViewPr>
      <p:guideLst>
        <p:guide orient="horz" pos="15851"/>
        <p:guide pos="102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29947" y="8248329"/>
            <a:ext cx="27539395" cy="17546649"/>
          </a:xfrm>
        </p:spPr>
        <p:txBody>
          <a:bodyPr anchor="b"/>
          <a:lstStyle>
            <a:lvl1pPr algn="ctr">
              <a:defRPr sz="21259"/>
            </a:lvl1pPr>
          </a:lstStyle>
          <a:p>
            <a:r>
              <a:rPr lang="en-US"/>
              <a:t>Click to edit Master title style</a:t>
            </a:r>
            <a:endParaRPr lang="en-US" dirty="0"/>
          </a:p>
        </p:txBody>
      </p:sp>
      <p:sp>
        <p:nvSpPr>
          <p:cNvPr id="3" name="Subtitle 2"/>
          <p:cNvSpPr>
            <a:spLocks noGrp="1"/>
          </p:cNvSpPr>
          <p:nvPr>
            <p:ph type="subTitle" idx="1"/>
          </p:nvPr>
        </p:nvSpPr>
        <p:spPr>
          <a:xfrm>
            <a:off x="4049911" y="26471644"/>
            <a:ext cx="24299466" cy="12168318"/>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DD6FB4A-3225-4393-B5C4-50E51FE1431F}" type="datetimeFigureOut">
              <a:rPr lang="en-US" smtClean="0"/>
              <a:t>7/6/2024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6419113-CA02-47D7-9D6F-0535DACBA09A}" type="slidenum">
              <a:rPr lang="en-US" smtClean="0"/>
              <a:t>‹#›</a:t>
            </a:fld>
            <a:endParaRPr lang="en-US"/>
          </a:p>
        </p:txBody>
      </p:sp>
    </p:spTree>
    <p:extLst>
      <p:ext uri="{BB962C8B-B14F-4D97-AF65-F5344CB8AC3E}">
        <p14:creationId xmlns:p14="http://schemas.microsoft.com/office/powerpoint/2010/main" val="403473600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7451" y="2683342"/>
            <a:ext cx="27944386" cy="974166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7451" y="13416653"/>
            <a:ext cx="27944386" cy="3197830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227451" y="46713298"/>
            <a:ext cx="7289840" cy="2683331"/>
          </a:xfrm>
          <a:prstGeom prst="rect">
            <a:avLst/>
          </a:prstGeom>
        </p:spPr>
        <p:txBody>
          <a:bodyPr vert="horz" lIns="91440" tIns="45720" rIns="91440" bIns="45720" rtlCol="0" anchor="ctr"/>
          <a:lstStyle>
            <a:lvl1pPr algn="l">
              <a:defRPr sz="4252">
                <a:solidFill>
                  <a:schemeClr val="tx1">
                    <a:tint val="75000"/>
                  </a:schemeClr>
                </a:solidFill>
              </a:defRPr>
            </a:lvl1pPr>
          </a:lstStyle>
          <a:p>
            <a:fld id="{ADD6FB4A-3225-4393-B5C4-50E51FE1431F}" type="datetimeFigureOut">
              <a:rPr lang="en-US" smtClean="0"/>
              <a:t>7/6/2024</a:t>
            </a:fld>
            <a:endParaRPr lang="en-US"/>
          </a:p>
        </p:txBody>
      </p:sp>
      <p:sp>
        <p:nvSpPr>
          <p:cNvPr id="5" name="Footer Placeholder 4"/>
          <p:cNvSpPr>
            <a:spLocks noGrp="1"/>
          </p:cNvSpPr>
          <p:nvPr>
            <p:ph type="ftr" sz="quarter" idx="3"/>
          </p:nvPr>
        </p:nvSpPr>
        <p:spPr>
          <a:xfrm>
            <a:off x="10732264" y="46713298"/>
            <a:ext cx="10934760" cy="2683331"/>
          </a:xfrm>
          <a:prstGeom prst="rect">
            <a:avLst/>
          </a:prstGeom>
        </p:spPr>
        <p:txBody>
          <a:bodyPr vert="horz" lIns="91440" tIns="45720" rIns="91440" bIns="45720" rtlCol="0" anchor="ctr"/>
          <a:lstStyle>
            <a:lvl1pPr algn="ctr">
              <a:defRPr sz="425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2881997" y="46713298"/>
            <a:ext cx="7289840" cy="2683331"/>
          </a:xfrm>
          <a:prstGeom prst="rect">
            <a:avLst/>
          </a:prstGeom>
        </p:spPr>
        <p:txBody>
          <a:bodyPr vert="horz" lIns="91440" tIns="45720" rIns="91440" bIns="45720" rtlCol="0" anchor="ctr"/>
          <a:lstStyle>
            <a:lvl1pPr algn="r">
              <a:defRPr sz="4252">
                <a:solidFill>
                  <a:schemeClr val="tx1">
                    <a:tint val="75000"/>
                  </a:schemeClr>
                </a:solidFill>
              </a:defRPr>
            </a:lvl1pPr>
          </a:lstStyle>
          <a:p>
            <a:fld id="{76419113-CA02-47D7-9D6F-0535DACBA09A}" type="slidenum">
              <a:rPr lang="en-US" smtClean="0"/>
              <a:t>‹#›</a:t>
            </a:fld>
            <a:endParaRPr lang="en-US"/>
          </a:p>
        </p:txBody>
      </p:sp>
    </p:spTree>
    <p:extLst>
      <p:ext uri="{BB962C8B-B14F-4D97-AF65-F5344CB8AC3E}">
        <p14:creationId xmlns:p14="http://schemas.microsoft.com/office/powerpoint/2010/main" val="976098850"/>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4A189AE-26D8-4F0B-A972-657FBB0B61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658" y="0"/>
            <a:ext cx="32399287" cy="50399950"/>
          </a:xfrm>
          <a:prstGeom prst="rect">
            <a:avLst/>
          </a:prstGeom>
          <a:solidFill>
            <a:schemeClr val="accent1">
              <a:lumMod val="50000"/>
            </a:schemeClr>
          </a:solidFill>
          <a:ln>
            <a:solidFill>
              <a:schemeClr val="accent5">
                <a:lumMod val="50000"/>
              </a:schemeClr>
            </a:solidFill>
          </a:ln>
        </p:spPr>
      </p:pic>
      <p:sp>
        <p:nvSpPr>
          <p:cNvPr id="7" name="Rectangle 6"/>
          <p:cNvSpPr/>
          <p:nvPr/>
        </p:nvSpPr>
        <p:spPr>
          <a:xfrm>
            <a:off x="0" y="2438400"/>
            <a:ext cx="32399288" cy="481733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C0C0C0"/>
              </a:highlight>
            </a:endParaRPr>
          </a:p>
        </p:txBody>
      </p:sp>
      <p:sp>
        <p:nvSpPr>
          <p:cNvPr id="2" name="Rectangle 1"/>
          <p:cNvSpPr/>
          <p:nvPr/>
        </p:nvSpPr>
        <p:spPr>
          <a:xfrm>
            <a:off x="26969985" y="2891580"/>
            <a:ext cx="3597293" cy="36106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dirty="0">
              <a:solidFill>
                <a:srgbClr val="003275"/>
              </a:solidFill>
            </a:endParaRPr>
          </a:p>
        </p:txBody>
      </p:sp>
      <p:sp>
        <p:nvSpPr>
          <p:cNvPr id="4" name="TextBox 3"/>
          <p:cNvSpPr txBox="1"/>
          <p:nvPr/>
        </p:nvSpPr>
        <p:spPr>
          <a:xfrm>
            <a:off x="5163526" y="2958757"/>
            <a:ext cx="21157929" cy="1200329"/>
          </a:xfrm>
          <a:prstGeom prst="rect">
            <a:avLst/>
          </a:prstGeom>
          <a:noFill/>
          <a:ln>
            <a:noFill/>
          </a:ln>
        </p:spPr>
        <p:txBody>
          <a:bodyPr wrap="square" rtlCol="0">
            <a:spAutoFit/>
          </a:bodyPr>
          <a:lstStyle/>
          <a:p>
            <a:pPr algn="ctr"/>
            <a:r>
              <a:rPr lang="en-US" sz="7200" spc="600" dirty="0">
                <a:solidFill>
                  <a:srgbClr val="003275"/>
                </a:solidFill>
                <a:latin typeface="Sitka Heading" pitchFamily="2" charset="0"/>
              </a:rPr>
              <a:t>Data Analysis and Forecasting [Super Store]</a:t>
            </a:r>
            <a:endParaRPr lang="" sz="7200" spc="600" dirty="0">
              <a:solidFill>
                <a:srgbClr val="003275"/>
              </a:solidFill>
              <a:latin typeface="Sitka Heading" pitchFamily="2" charset="0"/>
            </a:endParaRPr>
          </a:p>
        </p:txBody>
      </p:sp>
      <p:sp>
        <p:nvSpPr>
          <p:cNvPr id="8" name="TextBox 7"/>
          <p:cNvSpPr txBox="1"/>
          <p:nvPr/>
        </p:nvSpPr>
        <p:spPr>
          <a:xfrm>
            <a:off x="5163526" y="4973194"/>
            <a:ext cx="21157929" cy="1015663"/>
          </a:xfrm>
          <a:prstGeom prst="rect">
            <a:avLst/>
          </a:prstGeom>
          <a:noFill/>
          <a:ln>
            <a:noFill/>
          </a:ln>
        </p:spPr>
        <p:txBody>
          <a:bodyPr wrap="square" rtlCol="0">
            <a:spAutoFit/>
          </a:bodyPr>
          <a:lstStyle/>
          <a:p>
            <a:pPr algn="ctr"/>
            <a:r>
              <a:rPr lang="" sz="6000" spc="-150" dirty="0">
                <a:solidFill>
                  <a:srgbClr val="003275"/>
                </a:solidFill>
                <a:latin typeface="Sitka Display" pitchFamily="2" charset="0"/>
              </a:rPr>
              <a:t>Supervisor(s): Dr.Ghada Tolan</a:t>
            </a:r>
          </a:p>
        </p:txBody>
      </p:sp>
      <p:sp>
        <p:nvSpPr>
          <p:cNvPr id="9" name="TextBox 8"/>
          <p:cNvSpPr txBox="1"/>
          <p:nvPr/>
        </p:nvSpPr>
        <p:spPr>
          <a:xfrm>
            <a:off x="5438810" y="8034278"/>
            <a:ext cx="21157929" cy="2308324"/>
          </a:xfrm>
          <a:prstGeom prst="rect">
            <a:avLst/>
          </a:prstGeom>
          <a:noFill/>
          <a:ln>
            <a:noFill/>
          </a:ln>
        </p:spPr>
        <p:txBody>
          <a:bodyPr wrap="square" rtlCol="0">
            <a:spAutoFit/>
          </a:bodyPr>
          <a:lstStyle/>
          <a:p>
            <a:pPr algn="ctr"/>
            <a:r>
              <a:rPr lang="" sz="7200" dirty="0">
                <a:solidFill>
                  <a:schemeClr val="bg1"/>
                </a:solidFill>
                <a:latin typeface="Swis721 BlkCn BT" panose="020B0806030502040204" pitchFamily="34" charset="0"/>
              </a:rPr>
              <a:t>Team members:</a:t>
            </a:r>
          </a:p>
          <a:p>
            <a:pPr algn="ctr"/>
            <a:r>
              <a:rPr lang="en-US" sz="7200" dirty="0">
                <a:solidFill>
                  <a:schemeClr val="bg1"/>
                </a:solidFill>
                <a:latin typeface="Swis721 BlkCn BT" panose="020B0806030502040204" pitchFamily="34" charset="0"/>
              </a:rPr>
              <a:t>Omar ,Islam ,Abdelfattah ,Sara ,Alaa</a:t>
            </a:r>
            <a:endParaRPr lang="" sz="7200" dirty="0">
              <a:solidFill>
                <a:schemeClr val="bg1"/>
              </a:solidFill>
              <a:latin typeface="Swis721 BlkCn BT" panose="020B0806030502040204" pitchFamily="34" charset="0"/>
            </a:endParaRPr>
          </a:p>
        </p:txBody>
      </p:sp>
      <p:sp>
        <p:nvSpPr>
          <p:cNvPr id="35" name="Rectangle 34"/>
          <p:cNvSpPr/>
          <p:nvPr/>
        </p:nvSpPr>
        <p:spPr>
          <a:xfrm>
            <a:off x="5649824" y="10497062"/>
            <a:ext cx="21114387" cy="1514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2532184" y="38373022"/>
            <a:ext cx="13012616" cy="9873760"/>
          </a:xfrm>
          <a:prstGeom prst="rect">
            <a:avLst/>
          </a:prstGeom>
          <a:solidFill>
            <a:schemeClr val="accent3">
              <a:lumMod val="20000"/>
              <a:lumOff val="80000"/>
            </a:schemeClr>
          </a:solidFill>
          <a:ln w="762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1080000" rIns="91440" bIns="45720" numCol="1" spcCol="0" rtlCol="0" fromWordArt="0" anchor="t" anchorCtr="0" forceAA="0" compatLnSpc="1">
            <a:prstTxWarp prst="textNoShape">
              <a:avLst/>
            </a:prstTxWarp>
            <a:noAutofit/>
          </a:bodyPr>
          <a:lstStyle/>
          <a:p>
            <a:r>
              <a:rPr lang="en-US" sz="6000" b="1" dirty="0">
                <a:solidFill>
                  <a:srgbClr val="003275"/>
                </a:solidFill>
                <a:latin typeface="Swis721 Cn BT" panose="020B0506020202030204" pitchFamily="34" charset="0"/>
              </a:rPr>
              <a:t>Python </a:t>
            </a:r>
            <a:r>
              <a:rPr lang="en-US" sz="4400" dirty="0">
                <a:solidFill>
                  <a:srgbClr val="003275"/>
                </a:solidFill>
                <a:latin typeface="Swis721 Cn BT" panose="020B0506020202030204" pitchFamily="34" charset="0"/>
              </a:rPr>
              <a:t>programing language </a:t>
            </a:r>
            <a:endParaRPr lang="en-US" sz="6000" dirty="0">
              <a:solidFill>
                <a:srgbClr val="003275"/>
              </a:solidFill>
              <a:latin typeface="Swis721 Cn BT" panose="020B0506020202030204" pitchFamily="34" charset="0"/>
            </a:endParaRPr>
          </a:p>
          <a:p>
            <a:r>
              <a:rPr lang="en-US" sz="6000" b="1" dirty="0">
                <a:solidFill>
                  <a:srgbClr val="003275"/>
                </a:solidFill>
                <a:latin typeface="Swis721 Cn BT" panose="020B0506020202030204" pitchFamily="34" charset="0"/>
              </a:rPr>
              <a:t>Excel </a:t>
            </a:r>
            <a:r>
              <a:rPr lang="en-US" sz="4400" dirty="0">
                <a:solidFill>
                  <a:srgbClr val="003275"/>
                </a:solidFill>
                <a:latin typeface="Swis721 Cn BT" panose="020B0506020202030204" pitchFamily="34" charset="0"/>
              </a:rPr>
              <a:t>for data visualization</a:t>
            </a:r>
          </a:p>
        </p:txBody>
      </p:sp>
      <p:sp>
        <p:nvSpPr>
          <p:cNvPr id="70" name="Rectangle 69"/>
          <p:cNvSpPr/>
          <p:nvPr/>
        </p:nvSpPr>
        <p:spPr>
          <a:xfrm>
            <a:off x="1846384" y="37561931"/>
            <a:ext cx="12924693" cy="9882831"/>
          </a:xfrm>
          <a:prstGeom prst="rect">
            <a:avLst/>
          </a:prstGeom>
          <a:noFill/>
          <a:ln w="76200">
            <a:solidFill>
              <a:schemeClr val="accent5">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Shape">
            <a:extLst>
              <a:ext uri="{FF2B5EF4-FFF2-40B4-BE49-F238E27FC236}">
                <a16:creationId xmlns:a16="http://schemas.microsoft.com/office/drawing/2014/main" id="{838A0D2F-5FFC-4A08-A335-6D47B15F14AF}"/>
              </a:ext>
            </a:extLst>
          </p:cNvPr>
          <p:cNvSpPr/>
          <p:nvPr/>
        </p:nvSpPr>
        <p:spPr>
          <a:xfrm>
            <a:off x="3065746" y="36775037"/>
            <a:ext cx="8168038" cy="2094317"/>
          </a:xfrm>
          <a:prstGeom prst="rect">
            <a:avLst/>
          </a:prstGeom>
          <a:solidFill>
            <a:schemeClr val="accent1">
              <a:lumMod val="50000"/>
            </a:schemeClr>
          </a:solidFill>
          <a:ln w="12700">
            <a:miter lim="400000"/>
          </a:ln>
          <a:effectLst>
            <a:outerShdw blurRad="50800" dist="38100" dir="2700000" algn="tl" rotWithShape="0">
              <a:prstClr val="black">
                <a:alpha val="40000"/>
              </a:prstClr>
            </a:outerShdw>
          </a:effectLst>
        </p:spPr>
        <p:txBody>
          <a:bodyPr lIns="360000" tIns="38100" rIns="38100" bIns="38100" anchor="ctr"/>
          <a:lstStyle/>
          <a:p>
            <a:r>
              <a:rPr lang="fr-CA" sz="6000" b="1" dirty="0">
                <a:solidFill>
                  <a:srgbClr val="F1EEEF"/>
                </a:solidFill>
                <a:latin typeface="Calibri" panose="020F0502020204030204" pitchFamily="34" charset="0"/>
                <a:ea typeface="Calibri" panose="020F0502020204030204" pitchFamily="34" charset="0"/>
                <a:cs typeface="Calibri" panose="020F0502020204030204" pitchFamily="34" charset="0"/>
              </a:rPr>
              <a:t>USED TECHNOLOGIES</a:t>
            </a:r>
            <a:endParaRPr sz="6000" b="1" dirty="0">
              <a:solidFill>
                <a:srgbClr val="F1EEEF"/>
              </a:solidFill>
              <a:latin typeface="Calibri" panose="020F0502020204030204" pitchFamily="34" charset="0"/>
              <a:ea typeface="Calibri" panose="020F0502020204030204" pitchFamily="34" charset="0"/>
              <a:cs typeface="Calibri" panose="020F0502020204030204" pitchFamily="34" charset="0"/>
            </a:endParaRPr>
          </a:p>
        </p:txBody>
      </p:sp>
      <p:sp>
        <p:nvSpPr>
          <p:cNvPr id="73" name="Rectangle 72"/>
          <p:cNvSpPr/>
          <p:nvPr/>
        </p:nvSpPr>
        <p:spPr>
          <a:xfrm>
            <a:off x="17554662" y="38373022"/>
            <a:ext cx="13012616" cy="9873760"/>
          </a:xfrm>
          <a:prstGeom prst="rect">
            <a:avLst/>
          </a:prstGeom>
          <a:solidFill>
            <a:schemeClr val="accent3">
              <a:lumMod val="20000"/>
              <a:lumOff val="80000"/>
            </a:schemeClr>
          </a:solidFill>
          <a:ln w="762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1080000" rIns="91440" bIns="45720" numCol="1" spcCol="0" rtlCol="0" fromWordArt="0" anchor="t" anchorCtr="0" forceAA="0" compatLnSpc="1">
            <a:prstTxWarp prst="textNoShape">
              <a:avLst/>
            </a:prstTxWarp>
            <a:noAutofit/>
          </a:bodyPr>
          <a:lstStyle/>
          <a:p>
            <a:r>
              <a:rPr lang="en-US" sz="4000" dirty="0">
                <a:solidFill>
                  <a:srgbClr val="003275"/>
                </a:solidFill>
                <a:latin typeface="Swis721 Cn BT" panose="020B0506020202030204" pitchFamily="34" charset="0"/>
              </a:rPr>
              <a:t>The "Superstore Sales Analysis and Prediction" project analyzes sales data to provide insights and accurate future projections. It involves data cleaning, feature engineering, and analysis of sales trends and customer behaviors. Predictive models like Linear Regression, Random Forest, Decision Tree, and K-Nearest Neighbors are implemented and evaluated. The outputs include model performance metrics and business recommendations for improving sales activities. The project concludes with insights and suggestions for future work, including model enhancement and real-time data processing.</a:t>
            </a:r>
          </a:p>
          <a:p>
            <a:endParaRPr lang="en-US" sz="6000" b="1" dirty="0">
              <a:solidFill>
                <a:srgbClr val="003275"/>
              </a:solidFill>
              <a:latin typeface="Swis721 Cn BT" panose="020B0506020202030204" pitchFamily="34" charset="0"/>
            </a:endParaRPr>
          </a:p>
          <a:p>
            <a:endParaRPr lang="en-US" sz="6000" b="1" dirty="0">
              <a:solidFill>
                <a:srgbClr val="003275"/>
              </a:solidFill>
              <a:latin typeface="Swis721 Cn BT" panose="020B0506020202030204" pitchFamily="34" charset="0"/>
            </a:endParaRPr>
          </a:p>
          <a:p>
            <a:endParaRPr lang="en-US" sz="6000" b="1" dirty="0">
              <a:solidFill>
                <a:srgbClr val="003275"/>
              </a:solidFill>
              <a:latin typeface="Swis721 Cn BT" panose="020B0506020202030204" pitchFamily="34" charset="0"/>
            </a:endParaRPr>
          </a:p>
          <a:p>
            <a:endParaRPr lang="en-US" sz="6000" b="1" dirty="0">
              <a:solidFill>
                <a:srgbClr val="003275"/>
              </a:solidFill>
              <a:latin typeface="Swis721 Cn BT" panose="020B0506020202030204" pitchFamily="34" charset="0"/>
            </a:endParaRPr>
          </a:p>
          <a:p>
            <a:endParaRPr lang="en-US" sz="6000" b="1" dirty="0">
              <a:solidFill>
                <a:srgbClr val="003275"/>
              </a:solidFill>
              <a:latin typeface="Swis721 Cn BT" panose="020B0506020202030204" pitchFamily="34" charset="0"/>
            </a:endParaRPr>
          </a:p>
          <a:p>
            <a:endParaRPr lang="en-US" sz="6000" b="1" dirty="0">
              <a:solidFill>
                <a:srgbClr val="003275"/>
              </a:solidFill>
              <a:latin typeface="Swis721 Cn BT" panose="020B0506020202030204" pitchFamily="34" charset="0"/>
            </a:endParaRPr>
          </a:p>
        </p:txBody>
      </p:sp>
      <p:sp>
        <p:nvSpPr>
          <p:cNvPr id="74" name="Rectangle 73"/>
          <p:cNvSpPr/>
          <p:nvPr/>
        </p:nvSpPr>
        <p:spPr>
          <a:xfrm>
            <a:off x="16942411" y="37561931"/>
            <a:ext cx="12924693" cy="9882831"/>
          </a:xfrm>
          <a:prstGeom prst="rect">
            <a:avLst/>
          </a:prstGeom>
          <a:noFill/>
          <a:ln w="76200">
            <a:solidFill>
              <a:schemeClr val="accent5">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Shape">
            <a:extLst>
              <a:ext uri="{FF2B5EF4-FFF2-40B4-BE49-F238E27FC236}">
                <a16:creationId xmlns:a16="http://schemas.microsoft.com/office/drawing/2014/main" id="{838A0D2F-5FFC-4A08-A335-6D47B15F14AF}"/>
              </a:ext>
            </a:extLst>
          </p:cNvPr>
          <p:cNvSpPr/>
          <p:nvPr/>
        </p:nvSpPr>
        <p:spPr>
          <a:xfrm>
            <a:off x="18088223" y="36775038"/>
            <a:ext cx="9112291" cy="2094316"/>
          </a:xfrm>
          <a:prstGeom prst="rect">
            <a:avLst/>
          </a:prstGeom>
          <a:solidFill>
            <a:schemeClr val="accent1">
              <a:lumMod val="50000"/>
            </a:schemeClr>
          </a:solidFill>
          <a:ln w="12700">
            <a:miter lim="400000"/>
          </a:ln>
          <a:effectLst>
            <a:outerShdw blurRad="50800" dist="38100" dir="2700000" algn="tl" rotWithShape="0">
              <a:prstClr val="black">
                <a:alpha val="40000"/>
              </a:prstClr>
            </a:outerShdw>
          </a:effectLst>
        </p:spPr>
        <p:txBody>
          <a:bodyPr lIns="360000" tIns="38100" rIns="38100" bIns="38100" anchor="ctr"/>
          <a:lstStyle/>
          <a:p>
            <a:r>
              <a:rPr lang="fr-CA" sz="6000" b="1" dirty="0">
                <a:solidFill>
                  <a:srgbClr val="F1EEEF"/>
                </a:solidFill>
                <a:latin typeface="Calibri" panose="020F0502020204030204" pitchFamily="34" charset="0"/>
                <a:ea typeface="Calibri" panose="020F0502020204030204" pitchFamily="34" charset="0"/>
                <a:cs typeface="Calibri" panose="020F0502020204030204" pitchFamily="34" charset="0"/>
              </a:rPr>
              <a:t>DELIVERABLES / OUTPUT</a:t>
            </a:r>
            <a:endParaRPr sz="6000" b="1" dirty="0">
              <a:solidFill>
                <a:srgbClr val="F1EEEF"/>
              </a:solidFill>
              <a:latin typeface="Calibri" panose="020F0502020204030204" pitchFamily="34" charset="0"/>
              <a:ea typeface="Calibri" panose="020F0502020204030204" pitchFamily="34" charset="0"/>
              <a:cs typeface="Calibri" panose="020F0502020204030204" pitchFamily="34" charset="0"/>
            </a:endParaRPr>
          </a:p>
        </p:txBody>
      </p:sp>
      <p:sp>
        <p:nvSpPr>
          <p:cNvPr id="77" name="Rectangle 76"/>
          <p:cNvSpPr/>
          <p:nvPr/>
        </p:nvSpPr>
        <p:spPr>
          <a:xfrm>
            <a:off x="17554662" y="13900639"/>
            <a:ext cx="13012616" cy="22138651"/>
          </a:xfrm>
          <a:prstGeom prst="rect">
            <a:avLst/>
          </a:prstGeom>
          <a:solidFill>
            <a:schemeClr val="accent3">
              <a:lumMod val="20000"/>
              <a:lumOff val="80000"/>
            </a:schemeClr>
          </a:solidFill>
          <a:ln w="76200">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0" tIns="1080000" rIns="91440" bIns="45720" numCol="1" spcCol="0" rtlCol="0" fromWordArt="0" anchor="t" anchorCtr="0" forceAA="0" compatLnSpc="1">
            <a:prstTxWarp prst="textNoShape">
              <a:avLst/>
            </a:prstTxWarp>
            <a:noAutofit/>
          </a:bodyPr>
          <a:lstStyle/>
          <a:p>
            <a:r>
              <a:rPr lang="en-US" sz="6000" b="1" dirty="0">
                <a:solidFill>
                  <a:srgbClr val="003275"/>
                </a:solidFill>
                <a:latin typeface="Swis721 Cn BT" panose="020B0506020202030204" pitchFamily="34" charset="0"/>
              </a:rPr>
              <a:t>Data Collection </a:t>
            </a:r>
            <a:r>
              <a:rPr lang="en-US" sz="6000" dirty="0">
                <a:solidFill>
                  <a:srgbClr val="003275"/>
                </a:solidFill>
                <a:latin typeface="Swis721 Cn BT" panose="020B0506020202030204" pitchFamily="34" charset="0"/>
              </a:rPr>
              <a:t>: </a:t>
            </a:r>
            <a:r>
              <a:rPr lang="en-US" sz="4800" dirty="0">
                <a:solidFill>
                  <a:srgbClr val="003275"/>
                </a:solidFill>
                <a:latin typeface="Swis721 Cn BT" panose="020B0506020202030204" pitchFamily="34" charset="0"/>
              </a:rPr>
              <a:t>Data is a simulation data about super store</a:t>
            </a:r>
          </a:p>
          <a:p>
            <a:endParaRPr lang="en-US" sz="6000" b="1" dirty="0">
              <a:solidFill>
                <a:srgbClr val="003275"/>
              </a:solidFill>
              <a:latin typeface="Swis721 Cn BT" panose="020B0506020202030204" pitchFamily="34" charset="0"/>
            </a:endParaRPr>
          </a:p>
          <a:p>
            <a:r>
              <a:rPr lang="en-US" sz="6000" b="1" dirty="0">
                <a:solidFill>
                  <a:srgbClr val="003275"/>
                </a:solidFill>
                <a:latin typeface="Swis721 Cn BT" panose="020B0506020202030204" pitchFamily="34" charset="0"/>
              </a:rPr>
              <a:t>Data Preprocessing : </a:t>
            </a:r>
            <a:r>
              <a:rPr lang="en-US" sz="4800" dirty="0">
                <a:solidFill>
                  <a:srgbClr val="003275"/>
                </a:solidFill>
                <a:latin typeface="Swis721 Cn BT" panose="020B0506020202030204" pitchFamily="34" charset="0"/>
              </a:rPr>
              <a:t>Apply Data Cleaning , Feature Engineering , Data Reduction using python</a:t>
            </a:r>
          </a:p>
          <a:p>
            <a:endParaRPr lang="en-US" sz="4800" dirty="0">
              <a:solidFill>
                <a:srgbClr val="003275"/>
              </a:solidFill>
              <a:latin typeface="Swis721 Cn BT" panose="020B0506020202030204" pitchFamily="34" charset="0"/>
            </a:endParaRPr>
          </a:p>
          <a:p>
            <a:r>
              <a:rPr lang="en-US" sz="6000" b="1" dirty="0">
                <a:solidFill>
                  <a:srgbClr val="003275"/>
                </a:solidFill>
                <a:latin typeface="Swis721 Cn BT" panose="020B0506020202030204" pitchFamily="34" charset="0"/>
              </a:rPr>
              <a:t>Data Visualization : </a:t>
            </a:r>
            <a:r>
              <a:rPr lang="en-US" sz="4800" dirty="0">
                <a:solidFill>
                  <a:srgbClr val="003275"/>
                </a:solidFill>
                <a:latin typeface="Swis721 Cn BT" panose="020B0506020202030204" pitchFamily="34" charset="0"/>
              </a:rPr>
              <a:t>use graphs , charts to identify patterns and trends , summarize data and discover insights in data using excel and python</a:t>
            </a:r>
          </a:p>
          <a:p>
            <a:endParaRPr lang="en-US" sz="4800" b="1" dirty="0">
              <a:solidFill>
                <a:srgbClr val="003275"/>
              </a:solidFill>
              <a:latin typeface="Swis721 Cn BT" panose="020B0506020202030204" pitchFamily="34" charset="0"/>
            </a:endParaRPr>
          </a:p>
          <a:p>
            <a:r>
              <a:rPr lang="en-US" sz="6600" b="1" dirty="0">
                <a:solidFill>
                  <a:srgbClr val="003275"/>
                </a:solidFill>
                <a:latin typeface="Swis721 Cn BT" panose="020B0506020202030204" pitchFamily="34" charset="0"/>
              </a:rPr>
              <a:t>Algorithm Selection and Implementation :</a:t>
            </a:r>
            <a:br>
              <a:rPr lang="en-US" sz="6600" b="1" dirty="0">
                <a:solidFill>
                  <a:srgbClr val="003275"/>
                </a:solidFill>
                <a:latin typeface="Swis721 Cn BT" panose="020B0506020202030204" pitchFamily="34" charset="0"/>
              </a:rPr>
            </a:br>
            <a:r>
              <a:rPr lang="en-US" sz="6600" b="1" dirty="0">
                <a:solidFill>
                  <a:srgbClr val="003275"/>
                </a:solidFill>
                <a:latin typeface="Swis721 Cn BT" panose="020B0506020202030204" pitchFamily="34" charset="0"/>
              </a:rPr>
              <a:t> </a:t>
            </a:r>
            <a:br>
              <a:rPr lang="en-US" sz="6600" dirty="0">
                <a:solidFill>
                  <a:srgbClr val="003275"/>
                </a:solidFill>
                <a:latin typeface="Swis721 Cn BT" panose="020B0506020202030204" pitchFamily="34" charset="0"/>
              </a:rPr>
            </a:br>
            <a:r>
              <a:rPr lang="en-US" sz="4800" dirty="0">
                <a:solidFill>
                  <a:srgbClr val="003275"/>
                </a:solidFill>
                <a:latin typeface="Swis721 Cn BT" panose="020B0506020202030204" pitchFamily="34" charset="0"/>
              </a:rPr>
              <a:t>linear regression , decision tree m Random forest , KNN</a:t>
            </a:r>
            <a:br>
              <a:rPr lang="en-US" sz="4800" b="1" dirty="0">
                <a:solidFill>
                  <a:srgbClr val="003275"/>
                </a:solidFill>
                <a:latin typeface="Swis721 Cn BT" panose="020B0506020202030204" pitchFamily="34" charset="0"/>
              </a:rPr>
            </a:br>
            <a:endParaRPr lang="en-US" sz="4800" b="1" dirty="0">
              <a:solidFill>
                <a:srgbClr val="003275"/>
              </a:solidFill>
              <a:latin typeface="Swis721 Cn BT" panose="020B0506020202030204" pitchFamily="34" charset="0"/>
            </a:endParaRPr>
          </a:p>
          <a:p>
            <a:r>
              <a:rPr lang="en-US" sz="6000" b="1" dirty="0">
                <a:solidFill>
                  <a:srgbClr val="003275"/>
                </a:solidFill>
                <a:latin typeface="Swis721 Cn BT" panose="020B0506020202030204" pitchFamily="34" charset="0"/>
              </a:rPr>
              <a:t>Testing and Evaluation : </a:t>
            </a:r>
            <a:r>
              <a:rPr lang="en-US" sz="4800" dirty="0">
                <a:solidFill>
                  <a:srgbClr val="003275"/>
                </a:solidFill>
                <a:latin typeface="Swis721 Cn BT" panose="020B0506020202030204" pitchFamily="34" charset="0"/>
              </a:rPr>
              <a:t>Test model prediction with Mean Absolute Error and evaluate algorithm performance and accuracy </a:t>
            </a:r>
            <a:endParaRPr lang="en-US" sz="6000" b="1" dirty="0">
              <a:solidFill>
                <a:srgbClr val="003275"/>
              </a:solidFill>
              <a:latin typeface="Swis721 Cn BT" panose="020B0506020202030204" pitchFamily="34" charset="0"/>
            </a:endParaRPr>
          </a:p>
          <a:p>
            <a:endParaRPr lang="en-US" sz="4800" dirty="0">
              <a:solidFill>
                <a:srgbClr val="003275"/>
              </a:solidFill>
              <a:latin typeface="Swis721 Cn BT" panose="020B0506020202030204" pitchFamily="34" charset="0"/>
            </a:endParaRPr>
          </a:p>
          <a:p>
            <a:endParaRPr lang="en-US" sz="6000" b="1" dirty="0">
              <a:solidFill>
                <a:srgbClr val="003275"/>
              </a:solidFill>
              <a:latin typeface="Swis721 Cn BT" panose="020B0506020202030204" pitchFamily="34" charset="0"/>
            </a:endParaRPr>
          </a:p>
          <a:p>
            <a:endParaRPr lang="en-US" sz="6000" b="1" dirty="0">
              <a:solidFill>
                <a:srgbClr val="003275"/>
              </a:solidFill>
              <a:latin typeface="Swis721 Cn BT" panose="020B0506020202030204" pitchFamily="34" charset="0"/>
            </a:endParaRPr>
          </a:p>
          <a:p>
            <a:endParaRPr lang="en-US" sz="6000" b="1" dirty="0">
              <a:solidFill>
                <a:srgbClr val="003275"/>
              </a:solidFill>
              <a:latin typeface="Swis721 Cn BT" panose="020B0506020202030204" pitchFamily="34" charset="0"/>
            </a:endParaRPr>
          </a:p>
        </p:txBody>
      </p:sp>
      <p:sp>
        <p:nvSpPr>
          <p:cNvPr id="78" name="Rectangle 77"/>
          <p:cNvSpPr/>
          <p:nvPr/>
        </p:nvSpPr>
        <p:spPr>
          <a:xfrm>
            <a:off x="16868862" y="13089549"/>
            <a:ext cx="12924693" cy="22138651"/>
          </a:xfrm>
          <a:prstGeom prst="rect">
            <a:avLst/>
          </a:prstGeom>
          <a:noFill/>
          <a:ln w="76200">
            <a:solidFill>
              <a:schemeClr val="accent5">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Shape">
            <a:extLst>
              <a:ext uri="{FF2B5EF4-FFF2-40B4-BE49-F238E27FC236}">
                <a16:creationId xmlns:a16="http://schemas.microsoft.com/office/drawing/2014/main" id="{838A0D2F-5FFC-4A08-A335-6D47B15F14AF}"/>
              </a:ext>
            </a:extLst>
          </p:cNvPr>
          <p:cNvSpPr/>
          <p:nvPr/>
        </p:nvSpPr>
        <p:spPr>
          <a:xfrm>
            <a:off x="18088224" y="12302655"/>
            <a:ext cx="9112290" cy="2087331"/>
          </a:xfrm>
          <a:prstGeom prst="rect">
            <a:avLst/>
          </a:prstGeom>
          <a:solidFill>
            <a:schemeClr val="accent1">
              <a:lumMod val="50000"/>
            </a:schemeClr>
          </a:solidFill>
          <a:ln w="12700">
            <a:miter lim="400000"/>
          </a:ln>
          <a:effectLst>
            <a:outerShdw blurRad="50800" dist="38100" dir="2700000" algn="tl" rotWithShape="0">
              <a:prstClr val="black">
                <a:alpha val="40000"/>
              </a:prstClr>
            </a:outerShdw>
          </a:effectLst>
        </p:spPr>
        <p:txBody>
          <a:bodyPr lIns="360000" tIns="38100" rIns="38100" bIns="38100" anchor="ctr"/>
          <a:lstStyle/>
          <a:p>
            <a:r>
              <a:rPr lang="fr-CA" sz="6000" b="1" dirty="0">
                <a:solidFill>
                  <a:srgbClr val="F1EEEF"/>
                </a:solidFill>
                <a:latin typeface="Calibri" panose="020F0502020204030204" pitchFamily="34" charset="0"/>
                <a:ea typeface="Calibri" panose="020F0502020204030204" pitchFamily="34" charset="0"/>
                <a:cs typeface="Calibri" panose="020F0502020204030204" pitchFamily="34" charset="0"/>
              </a:rPr>
              <a:t>METHODOLOGY</a:t>
            </a:r>
            <a:endParaRPr sz="6000" b="1" dirty="0">
              <a:solidFill>
                <a:srgbClr val="F1EEEF"/>
              </a:solidFill>
              <a:latin typeface="Calibri" panose="020F0502020204030204" pitchFamily="34" charset="0"/>
              <a:ea typeface="Calibri" panose="020F0502020204030204" pitchFamily="34" charset="0"/>
              <a:cs typeface="Calibri" panose="020F0502020204030204" pitchFamily="34" charset="0"/>
            </a:endParaRPr>
          </a:p>
        </p:txBody>
      </p:sp>
      <p:sp>
        <p:nvSpPr>
          <p:cNvPr id="90" name="Rectangle 89"/>
          <p:cNvSpPr/>
          <p:nvPr/>
        </p:nvSpPr>
        <p:spPr>
          <a:xfrm>
            <a:off x="2532184" y="13859154"/>
            <a:ext cx="13012616" cy="9873760"/>
          </a:xfrm>
          <a:prstGeom prst="rect">
            <a:avLst/>
          </a:prstGeom>
          <a:solidFill>
            <a:schemeClr val="accent3">
              <a:lumMod val="20000"/>
              <a:lumOff val="80000"/>
            </a:schemeClr>
          </a:solidFill>
          <a:ln w="762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720000" tIns="1080000" rtlCol="0" anchor="t"/>
          <a:lstStyle/>
          <a:p>
            <a:r>
              <a:rPr lang="en-US" sz="4400" b="0" i="0" dirty="0">
                <a:solidFill>
                  <a:srgbClr val="003275"/>
                </a:solidFill>
                <a:effectLst/>
                <a:latin typeface="-apple-system"/>
              </a:rPr>
              <a:t>The project's vision is to enhance a global superstore's performance and profitability by using data-driven insights to inform strategic decisions</a:t>
            </a:r>
            <a:br>
              <a:rPr lang="en-US" sz="4400" b="0" i="0" dirty="0">
                <a:solidFill>
                  <a:srgbClr val="003275"/>
                </a:solidFill>
                <a:effectLst/>
                <a:latin typeface="-apple-system"/>
              </a:rPr>
            </a:br>
            <a:endParaRPr lang="en-US" sz="4400" b="0" i="0" dirty="0">
              <a:solidFill>
                <a:srgbClr val="003275"/>
              </a:solidFill>
              <a:effectLst/>
              <a:latin typeface="-apple-system"/>
            </a:endParaRPr>
          </a:p>
          <a:p>
            <a:r>
              <a:rPr lang="en-US" sz="4400" dirty="0">
                <a:solidFill>
                  <a:srgbClr val="003275"/>
                </a:solidFill>
                <a:latin typeface="-apple-system"/>
              </a:rPr>
              <a:t>- . The objectives include analyzing sales trends, segmenting customers, evaluating product performance, forecasting sales, assessing shipping and delivery impacts, and conducting geographic and profitability analyses. This comprehensive approach aims to optimize inventory management, marketing strategies, and overall operational efficiency.</a:t>
            </a:r>
          </a:p>
          <a:p>
            <a:endParaRPr lang="en-US" sz="4400" dirty="0">
              <a:solidFill>
                <a:srgbClr val="050E17"/>
              </a:solidFill>
              <a:latin typeface="-apple-system"/>
            </a:endParaRPr>
          </a:p>
          <a:p>
            <a:endParaRPr lang="en-US" sz="4400" dirty="0">
              <a:solidFill>
                <a:srgbClr val="050E17"/>
              </a:solidFill>
              <a:latin typeface="-apple-system"/>
            </a:endParaRPr>
          </a:p>
          <a:p>
            <a:endParaRPr lang="en-US" sz="4400" dirty="0">
              <a:solidFill>
                <a:srgbClr val="050E17"/>
              </a:solidFill>
              <a:latin typeface="-apple-system"/>
            </a:endParaRPr>
          </a:p>
          <a:p>
            <a:endParaRPr lang="en-US" sz="4400" dirty="0">
              <a:solidFill>
                <a:srgbClr val="050E17"/>
              </a:solidFill>
              <a:latin typeface="-apple-system"/>
            </a:endParaRPr>
          </a:p>
          <a:p>
            <a:endParaRPr lang="en-US" sz="4400" dirty="0">
              <a:solidFill>
                <a:srgbClr val="050E17"/>
              </a:solidFill>
              <a:latin typeface="-apple-system"/>
            </a:endParaRPr>
          </a:p>
          <a:p>
            <a:endParaRPr lang="en-US" sz="4400" dirty="0">
              <a:solidFill>
                <a:srgbClr val="050E17"/>
              </a:solidFill>
              <a:latin typeface="-apple-system"/>
            </a:endParaRPr>
          </a:p>
        </p:txBody>
      </p:sp>
      <p:sp>
        <p:nvSpPr>
          <p:cNvPr id="91" name="Rectangle 90"/>
          <p:cNvSpPr/>
          <p:nvPr/>
        </p:nvSpPr>
        <p:spPr>
          <a:xfrm>
            <a:off x="2194350" y="13196680"/>
            <a:ext cx="12924693" cy="9882831"/>
          </a:xfrm>
          <a:prstGeom prst="rect">
            <a:avLst/>
          </a:prstGeom>
          <a:noFill/>
          <a:ln w="76200">
            <a:solidFill>
              <a:schemeClr val="accent5">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Shape">
            <a:extLst>
              <a:ext uri="{FF2B5EF4-FFF2-40B4-BE49-F238E27FC236}">
                <a16:creationId xmlns:a16="http://schemas.microsoft.com/office/drawing/2014/main" id="{838A0D2F-5FFC-4A08-A335-6D47B15F14AF}"/>
              </a:ext>
            </a:extLst>
          </p:cNvPr>
          <p:cNvSpPr/>
          <p:nvPr/>
        </p:nvSpPr>
        <p:spPr>
          <a:xfrm>
            <a:off x="3065746" y="12261169"/>
            <a:ext cx="8168038" cy="2094317"/>
          </a:xfrm>
          <a:prstGeom prst="rect">
            <a:avLst/>
          </a:prstGeom>
          <a:solidFill>
            <a:schemeClr val="accent1">
              <a:lumMod val="50000"/>
            </a:schemeClr>
          </a:solidFill>
          <a:ln w="12700">
            <a:miter lim="400000"/>
          </a:ln>
          <a:effectLst>
            <a:outerShdw blurRad="50800" dist="38100" dir="2700000" algn="tl" rotWithShape="0">
              <a:prstClr val="black">
                <a:alpha val="40000"/>
              </a:prstClr>
            </a:outerShdw>
          </a:effectLst>
        </p:spPr>
        <p:txBody>
          <a:bodyPr lIns="360000" tIns="38100" rIns="38100" bIns="38100" anchor="ctr"/>
          <a:lstStyle/>
          <a:p>
            <a:pPr>
              <a:defRPr sz="3000">
                <a:solidFill>
                  <a:srgbClr val="FFFFFF"/>
                </a:solidFill>
              </a:defRPr>
            </a:pPr>
            <a:r>
              <a:rPr lang="fr-CA" sz="6000" b="1" dirty="0">
                <a:solidFill>
                  <a:srgbClr val="F1EEEF"/>
                </a:solidFill>
                <a:latin typeface="Calibri" panose="020F0502020204030204" pitchFamily="34" charset="0"/>
                <a:ea typeface="Calibri" panose="020F0502020204030204" pitchFamily="34" charset="0"/>
                <a:cs typeface="Calibri" panose="020F0502020204030204" pitchFamily="34" charset="0"/>
              </a:rPr>
              <a:t>VISION / OBJECTIVES</a:t>
            </a:r>
          </a:p>
        </p:txBody>
      </p:sp>
      <p:sp>
        <p:nvSpPr>
          <p:cNvPr id="94" name="Rectangle 93"/>
          <p:cNvSpPr/>
          <p:nvPr/>
        </p:nvSpPr>
        <p:spPr>
          <a:xfrm>
            <a:off x="2532184" y="26165530"/>
            <a:ext cx="13012616" cy="9873760"/>
          </a:xfrm>
          <a:prstGeom prst="rect">
            <a:avLst/>
          </a:prstGeom>
          <a:solidFill>
            <a:schemeClr val="accent3">
              <a:lumMod val="20000"/>
              <a:lumOff val="80000"/>
            </a:schemeClr>
          </a:solidFill>
          <a:ln w="76200">
            <a:noFill/>
            <a:prstDash val="dash"/>
          </a:ln>
        </p:spPr>
        <p:style>
          <a:lnRef idx="2">
            <a:schemeClr val="accent1">
              <a:shade val="50000"/>
            </a:schemeClr>
          </a:lnRef>
          <a:fillRef idx="1">
            <a:schemeClr val="accent1"/>
          </a:fillRef>
          <a:effectRef idx="0">
            <a:schemeClr val="accent1"/>
          </a:effectRef>
          <a:fontRef idx="minor">
            <a:schemeClr val="lt1"/>
          </a:fontRef>
        </p:style>
        <p:txBody>
          <a:bodyPr lIns="720000" tIns="1080000" rtlCol="0" anchor="t"/>
          <a:lstStyle/>
          <a:p>
            <a:r>
              <a:rPr lang="en-US" sz="5400" dirty="0">
                <a:solidFill>
                  <a:srgbClr val="003275"/>
                </a:solidFill>
                <a:latin typeface="Swis721 Cn BT" panose="020B0506020202030204" pitchFamily="34" charset="0"/>
              </a:rPr>
              <a:t>Key beneficiaries include business analysts, data scientists, retail managers, and marketing professionals, who can apply these insights to improve inventory management, marketing, and operational efficiencies. The document also serves as a valuable resource for academic researchers and students studying data analysis and retail analytics.</a:t>
            </a:r>
            <a:endParaRPr lang="en-US" sz="6000" dirty="0">
              <a:solidFill>
                <a:srgbClr val="003275"/>
              </a:solidFill>
              <a:latin typeface="Swis721 Cn BT" panose="020B0506020202030204" pitchFamily="34" charset="0"/>
            </a:endParaRPr>
          </a:p>
        </p:txBody>
      </p:sp>
      <p:sp>
        <p:nvSpPr>
          <p:cNvPr id="95" name="Rectangle 94"/>
          <p:cNvSpPr/>
          <p:nvPr/>
        </p:nvSpPr>
        <p:spPr>
          <a:xfrm>
            <a:off x="1846384" y="25354439"/>
            <a:ext cx="12924693" cy="10256361"/>
          </a:xfrm>
          <a:prstGeom prst="rect">
            <a:avLst/>
          </a:prstGeom>
          <a:noFill/>
          <a:ln w="76200">
            <a:solidFill>
              <a:schemeClr val="accent5">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Shape">
            <a:extLst>
              <a:ext uri="{FF2B5EF4-FFF2-40B4-BE49-F238E27FC236}">
                <a16:creationId xmlns:a16="http://schemas.microsoft.com/office/drawing/2014/main" id="{838A0D2F-5FFC-4A08-A335-6D47B15F14AF}"/>
              </a:ext>
            </a:extLst>
          </p:cNvPr>
          <p:cNvSpPr/>
          <p:nvPr/>
        </p:nvSpPr>
        <p:spPr>
          <a:xfrm>
            <a:off x="3065746" y="24567545"/>
            <a:ext cx="8168038" cy="2094317"/>
          </a:xfrm>
          <a:prstGeom prst="rect">
            <a:avLst/>
          </a:prstGeom>
          <a:solidFill>
            <a:schemeClr val="accent1">
              <a:lumMod val="50000"/>
            </a:schemeClr>
          </a:solidFill>
          <a:ln w="12700">
            <a:miter lim="400000"/>
          </a:ln>
          <a:effectLst>
            <a:outerShdw blurRad="50800" dist="38100" dir="2700000" algn="tl" rotWithShape="0">
              <a:prstClr val="black">
                <a:alpha val="40000"/>
              </a:prstClr>
            </a:outerShdw>
          </a:effectLst>
        </p:spPr>
        <p:txBody>
          <a:bodyPr lIns="360000" tIns="38100" rIns="38100" bIns="38100" anchor="ctr"/>
          <a:lstStyle/>
          <a:p>
            <a:r>
              <a:rPr lang="fr-CA" sz="6000" b="1" dirty="0">
                <a:solidFill>
                  <a:srgbClr val="F1EEEF"/>
                </a:solidFill>
                <a:latin typeface="Calibri" panose="020F0502020204030204" pitchFamily="34" charset="0"/>
                <a:ea typeface="Calibri" panose="020F0502020204030204" pitchFamily="34" charset="0"/>
                <a:cs typeface="Calibri" panose="020F0502020204030204" pitchFamily="34" charset="0"/>
              </a:rPr>
              <a:t>BENEFICIARIES</a:t>
            </a: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35939" y="2890801"/>
            <a:ext cx="2896364" cy="3753776"/>
          </a:xfrm>
          <a:prstGeom prst="rect">
            <a:avLst/>
          </a:prstGeom>
        </p:spPr>
      </p:pic>
      <p:sp>
        <p:nvSpPr>
          <p:cNvPr id="13" name="TextBox 12"/>
          <p:cNvSpPr txBox="1"/>
          <p:nvPr/>
        </p:nvSpPr>
        <p:spPr>
          <a:xfrm>
            <a:off x="1129433" y="6259376"/>
            <a:ext cx="4309377"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Cairo University</a:t>
            </a:r>
          </a:p>
        </p:txBody>
      </p:sp>
      <p:pic>
        <p:nvPicPr>
          <p:cNvPr id="6" name="Picture 5">
            <a:extLst>
              <a:ext uri="{FF2B5EF4-FFF2-40B4-BE49-F238E27FC236}">
                <a16:creationId xmlns:a16="http://schemas.microsoft.com/office/drawing/2014/main" id="{10716691-534D-69BE-CB6F-CE1EFA229F5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26752679" y="2778826"/>
            <a:ext cx="4151626" cy="3798297"/>
          </a:xfrm>
          <a:prstGeom prst="rect">
            <a:avLst/>
          </a:prstGeom>
        </p:spPr>
      </p:pic>
    </p:spTree>
    <p:extLst>
      <p:ext uri="{BB962C8B-B14F-4D97-AF65-F5344CB8AC3E}">
        <p14:creationId xmlns:p14="http://schemas.microsoft.com/office/powerpoint/2010/main" val="230342266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546</TotalTime>
  <Words>344</Words>
  <Application>Microsoft Office PowerPoint</Application>
  <PresentationFormat>Custom</PresentationFormat>
  <Paragraphs>34</Paragraphs>
  <Slides>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-apple-system</vt:lpstr>
      <vt:lpstr>Arial</vt:lpstr>
      <vt:lpstr>Calibri</vt:lpstr>
      <vt:lpstr>Calibri Light</vt:lpstr>
      <vt:lpstr>Sitka Display</vt:lpstr>
      <vt:lpstr>Sitka Heading</vt:lpstr>
      <vt:lpstr>Swis721 BlkCn BT</vt:lpstr>
      <vt:lpstr>Swis721 Cn BT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Omar Salah</cp:lastModifiedBy>
  <cp:revision>41</cp:revision>
  <dcterms:created xsi:type="dcterms:W3CDTF">2022-11-18T10:07:41Z</dcterms:created>
  <dcterms:modified xsi:type="dcterms:W3CDTF">2024-07-06T17:56:07Z</dcterms:modified>
</cp:coreProperties>
</file>